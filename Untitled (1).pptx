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 the thank you message sincerely, making eye contact. Briefly mention future plans if applicable.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image" Target="../media/image-5-2.png"/><Relationship Id="rId9" Type="http://schemas.openxmlformats.org/officeDocument/2006/relationships/image" Target="../media/image-5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4008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66590"/>
            <a:ext cx="3800475" cy="16811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66035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endParaRPr lang="en-US" sz="2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70877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Student Management System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435275"/>
            <a:ext cx="8151763" cy="999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Project Report</a:t>
            </a:r>
            <a:endParaRPr lang="en-US" sz="1100" dirty="0"/>
          </a:p>
          <a:p>
            <a:pPr algn="ctr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Structures &amp; Algorithm | CSE 207</a:t>
            </a:r>
            <a:endParaRPr lang="en-US" sz="110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Department of Computer Science &amp; Engineering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772022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9228" y="70842"/>
            <a:ext cx="2445469" cy="16303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52323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Student Details &amp; Group Members</a:t>
            </a:r>
            <a:endParaRPr lang="en-US" sz="2750" dirty="0"/>
          </a:p>
        </p:txBody>
      </p:sp>
      <p:sp>
        <p:nvSpPr>
          <p:cNvPr id="5" name="Shape 2"/>
          <p:cNvSpPr/>
          <p:nvPr/>
        </p:nvSpPr>
        <p:spPr>
          <a:xfrm>
            <a:off x="496119" y="3178820"/>
            <a:ext cx="8151763" cy="827187"/>
          </a:xfrm>
          <a:prstGeom prst="roundRect">
            <a:avLst>
              <a:gd name="adj" fmla="val 719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96119" y="3592413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350716" y="3178820"/>
            <a:ext cx="8860" cy="82718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793358" y="3178820"/>
            <a:ext cx="8860" cy="82718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00955" y="3183582"/>
            <a:ext cx="2849761" cy="408831"/>
          </a:xfrm>
          <a:custGeom>
            <a:avLst/>
            <a:gdLst/>
            <a:ahLst/>
            <a:cxnLst/>
            <a:rect l="l" t="t" r="r" b="b"/>
            <a:pathLst>
              <a:path w="2849761" h="408831">
                <a:moveTo>
                  <a:pt x="49619" y="0"/>
                </a:moveTo>
                <a:lnTo>
                  <a:pt x="2849761" y="0"/>
                </a:lnTo>
                <a:lnTo>
                  <a:pt x="2849761" y="408831"/>
                </a:lnTo>
                <a:lnTo>
                  <a:pt x="0" y="408831"/>
                </a:lnTo>
                <a:lnTo>
                  <a:pt x="0" y="49619"/>
                </a:lnTo>
                <a:arcTo hR="49619" wR="49619" stAng="10800000" swAng="5400000"/>
                <a:close/>
              </a:path>
            </a:pathLst>
          </a:custGeom>
          <a:solidFill>
            <a:srgbClr val="FF9013"/>
          </a:solidFill>
          <a:ln/>
        </p:spPr>
      </p:sp>
      <p:sp>
        <p:nvSpPr>
          <p:cNvPr id="10" name="Text 7"/>
          <p:cNvSpPr/>
          <p:nvPr/>
        </p:nvSpPr>
        <p:spPr>
          <a:xfrm>
            <a:off x="642714" y="3273400"/>
            <a:ext cx="30210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Name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50716" y="3183582"/>
            <a:ext cx="2442642" cy="408831"/>
          </a:xfrm>
          <a:prstGeom prst="rect">
            <a:avLst/>
          </a:prstGeom>
          <a:solidFill>
            <a:srgbClr val="FF9013"/>
          </a:solidFill>
          <a:ln/>
        </p:spPr>
      </p:sp>
      <p:sp>
        <p:nvSpPr>
          <p:cNvPr id="12" name="Text 9"/>
          <p:cNvSpPr/>
          <p:nvPr/>
        </p:nvSpPr>
        <p:spPr>
          <a:xfrm>
            <a:off x="3494856" y="3273400"/>
            <a:ext cx="26115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Roll Number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793358" y="3183582"/>
            <a:ext cx="2849761" cy="408831"/>
          </a:xfrm>
          <a:custGeom>
            <a:avLst/>
            <a:gdLst/>
            <a:ahLst/>
            <a:cxnLst/>
            <a:rect l="l" t="t" r="r" b="b"/>
            <a:pathLst>
              <a:path w="2849761" h="408831">
                <a:moveTo>
                  <a:pt x="0" y="0"/>
                </a:moveTo>
                <a:lnTo>
                  <a:pt x="2800142" y="0"/>
                </a:lnTo>
                <a:arcTo hR="49619" wR="49619" stAng="16200000" swAng="5400000"/>
                <a:lnTo>
                  <a:pt x="2849761" y="408831"/>
                </a:lnTo>
                <a:lnTo>
                  <a:pt x="0" y="408831"/>
                </a:lnTo>
                <a:lnTo>
                  <a:pt x="0" y="0"/>
                </a:lnTo>
                <a:close/>
              </a:path>
            </a:pathLst>
          </a:custGeom>
          <a:solidFill>
            <a:srgbClr val="FF9013"/>
          </a:solidFill>
          <a:ln/>
        </p:spPr>
      </p:sp>
      <p:sp>
        <p:nvSpPr>
          <p:cNvPr id="14" name="Text 11"/>
          <p:cNvSpPr/>
          <p:nvPr/>
        </p:nvSpPr>
        <p:spPr>
          <a:xfrm>
            <a:off x="5937498" y="3273400"/>
            <a:ext cx="30210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Email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2714" y="3684612"/>
            <a:ext cx="30210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MD MEHEDI HASAN NIRJON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494856" y="3684612"/>
            <a:ext cx="26115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2023-2-60-113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37498" y="3684612"/>
            <a:ext cx="30210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2023-2-60-113@STD.EWUBD.EDU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96119" y="416547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Individual project report for the "Student Management System" project in Data Structures (CSE 207).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67" y="350639"/>
            <a:ext cx="3331666" cy="44422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500881"/>
            <a:ext cx="4722763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Header Files &amp; Namespace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3925119" y="905842"/>
            <a:ext cx="517996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program begins by including the essential C++ standard libraries that power every feature of the system.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3925119" y="1112788"/>
            <a:ext cx="4722763" cy="528340"/>
          </a:xfrm>
          <a:prstGeom prst="roundRect">
            <a:avLst>
              <a:gd name="adj" fmla="val 7748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027289" y="1214958"/>
            <a:ext cx="451842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#include &lt;iostream&gt;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027289" y="1407393"/>
            <a:ext cx="451842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 input/output streams for console interaction.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3925119" y="1708100"/>
            <a:ext cx="4722763" cy="528340"/>
          </a:xfrm>
          <a:prstGeom prst="roundRect">
            <a:avLst>
              <a:gd name="adj" fmla="val 7748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27289" y="1810271"/>
            <a:ext cx="451842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#include &lt;fstream&gt;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027289" y="2002706"/>
            <a:ext cx="451842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 stream support for persistent data storage.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925119" y="2303413"/>
            <a:ext cx="4722763" cy="533102"/>
          </a:xfrm>
          <a:prstGeom prst="roundRect">
            <a:avLst>
              <a:gd name="adj" fmla="val 767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7289" y="2405583"/>
            <a:ext cx="451842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#include &lt;cstdlib&gt;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027289" y="2598018"/>
            <a:ext cx="4518422" cy="136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General utilities including </a:t>
            </a:r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system()</a:t>
            </a:r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exit()</a:t>
            </a:r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3925119" y="2903488"/>
            <a:ext cx="4722763" cy="533102"/>
          </a:xfrm>
          <a:prstGeom prst="roundRect">
            <a:avLst>
              <a:gd name="adj" fmla="val 767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27289" y="3005658"/>
            <a:ext cx="451842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#include &lt;conio.h&gt;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027289" y="3198093"/>
            <a:ext cx="4518422" cy="136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Console I/O for </a:t>
            </a:r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getch()</a:t>
            </a:r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keypress handling.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3925119" y="3511972"/>
            <a:ext cx="4722763" cy="1130647"/>
          </a:xfrm>
          <a:prstGeom prst="roundRect">
            <a:avLst>
              <a:gd name="adj" fmla="val 3621"/>
            </a:avLst>
          </a:prstGeom>
          <a:solidFill>
            <a:srgbClr val="F2F2F2"/>
          </a:solidFill>
          <a:ln/>
        </p:spPr>
      </p:sp>
      <p:sp>
        <p:nvSpPr>
          <p:cNvPr id="19" name="Text 16"/>
          <p:cNvSpPr/>
          <p:nvPr/>
        </p:nvSpPr>
        <p:spPr>
          <a:xfrm>
            <a:off x="4042023" y="3609380"/>
            <a:ext cx="4488954" cy="935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&lt;cstdlib&gt;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&lt;conio.h&gt;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&lt;fstream&gt;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099444"/>
            <a:ext cx="5232425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class Node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96119" y="2384078"/>
            <a:ext cx="5232425" cy="196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class is the fundamental building block of the singly linked list. Each node stores one student's complete record and a pointer to the next node in the chain.</a:t>
            </a:r>
            <a:endParaRPr lang="en-US" sz="600" dirty="0"/>
          </a:p>
        </p:txBody>
      </p:sp>
      <p:sp>
        <p:nvSpPr>
          <p:cNvPr id="4" name="Shape 2"/>
          <p:cNvSpPr/>
          <p:nvPr/>
        </p:nvSpPr>
        <p:spPr>
          <a:xfrm>
            <a:off x="5922466" y="437480"/>
            <a:ext cx="2730103" cy="1023268"/>
          </a:xfrm>
          <a:prstGeom prst="roundRect">
            <a:avLst>
              <a:gd name="adj" fmla="val 3182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6015484" y="514945"/>
            <a:ext cx="2544068" cy="868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6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Node{</a:t>
            </a:r>
            <a:endParaRPr lang="en-US" sz="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public:</a:t>
            </a:r>
            <a:endParaRPr lang="en-US" sz="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roll_no;</a:t>
            </a:r>
            <a:endParaRPr lang="en-US" sz="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name;</a:t>
            </a:r>
            <a:endParaRPr lang="en-US" sz="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float marks, per;</a:t>
            </a:r>
            <a:endParaRPr lang="en-US" sz="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Node* next;</a:t>
            </a:r>
            <a:endParaRPr lang="en-US" sz="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2466" y="1508373"/>
            <a:ext cx="2730103" cy="2730103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4333726"/>
            <a:ext cx="2006129" cy="42110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1209" y="4420716"/>
            <a:ext cx="1794049" cy="125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roll_no </a:t>
            </a:r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(int)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621209" y="4571926"/>
            <a:ext cx="1794049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Unique student identifier.</a:t>
            </a:r>
            <a:endParaRPr lang="en-US" sz="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44589" y="4333726"/>
            <a:ext cx="2006203" cy="42110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669679" y="4420716"/>
            <a:ext cx="1794123" cy="125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name </a:t>
            </a:r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(string)</a:t>
            </a:r>
            <a:endParaRPr lang="en-US" sz="750" dirty="0"/>
          </a:p>
        </p:txBody>
      </p:sp>
      <p:sp>
        <p:nvSpPr>
          <p:cNvPr id="12" name="Text 7"/>
          <p:cNvSpPr/>
          <p:nvPr/>
        </p:nvSpPr>
        <p:spPr>
          <a:xfrm>
            <a:off x="2669679" y="4571926"/>
            <a:ext cx="1794123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Student's full name.</a:t>
            </a:r>
            <a:endParaRPr lang="en-US" sz="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93134" y="4333726"/>
            <a:ext cx="2006203" cy="42110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718224" y="4420716"/>
            <a:ext cx="1794123" cy="125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marks / per </a:t>
            </a:r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(float)</a:t>
            </a:r>
            <a:endParaRPr lang="en-US" sz="750" dirty="0"/>
          </a:p>
        </p:txBody>
      </p:sp>
      <p:sp>
        <p:nvSpPr>
          <p:cNvPr id="15" name="Text 9"/>
          <p:cNvSpPr/>
          <p:nvPr/>
        </p:nvSpPr>
        <p:spPr>
          <a:xfrm>
            <a:off x="4718224" y="4571926"/>
            <a:ext cx="1794123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Marks obtained and percentage value.</a:t>
            </a:r>
            <a:endParaRPr lang="en-US" sz="6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41678" y="4333726"/>
            <a:ext cx="2006203" cy="42110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66768" y="4420716"/>
            <a:ext cx="1794123" cy="125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next </a:t>
            </a:r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(Node*)</a:t>
            </a:r>
            <a:endParaRPr lang="en-US" sz="750" dirty="0"/>
          </a:p>
        </p:txBody>
      </p:sp>
      <p:sp>
        <p:nvSpPr>
          <p:cNvPr id="18" name="Text 11"/>
          <p:cNvSpPr/>
          <p:nvPr/>
        </p:nvSpPr>
        <p:spPr>
          <a:xfrm>
            <a:off x="6766768" y="4571926"/>
            <a:ext cx="1794123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Pointer linking to the next node.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loadFromFile() and saveToFile()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608963" cy="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two functions provide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persistent storage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student records survive between program sessions by reading from and writing to 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students.txt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550" dirty="0"/>
          </a:p>
        </p:txBody>
      </p:sp>
      <p:sp>
        <p:nvSpPr>
          <p:cNvPr id="4" name="Shape 2"/>
          <p:cNvSpPr/>
          <p:nvPr/>
        </p:nvSpPr>
        <p:spPr>
          <a:xfrm>
            <a:off x="496119" y="851595"/>
            <a:ext cx="3989412" cy="2863453"/>
          </a:xfrm>
          <a:prstGeom prst="roundRect">
            <a:avLst>
              <a:gd name="adj" fmla="val 1040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581174" y="922437"/>
            <a:ext cx="3819302" cy="2721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loadFromFile() {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ifstream file("students.txt");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if(!file) { return; }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r;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m, p;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while(file &gt;&gt; r &gt;&gt; n &gt;&gt; m &gt;&gt; p) {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Node* newNode = new Node;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newNode-&gt;roll_no = r;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newNode-&gt;name = n;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newNode-&gt;marks = m;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newNode-&gt;per = p;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newNode-&gt;next = nullptr;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if(head == nullptr) {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head = newNode;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else {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Node* temp = head;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while(temp-&gt;next != nullptr)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temp = temp-&gt;next;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temp-&gt;next = newNode;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file.close();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550" dirty="0"/>
          </a:p>
        </p:txBody>
      </p:sp>
      <p:sp>
        <p:nvSpPr>
          <p:cNvPr id="6" name="Shape 4"/>
          <p:cNvSpPr/>
          <p:nvPr/>
        </p:nvSpPr>
        <p:spPr>
          <a:xfrm>
            <a:off x="4663232" y="851595"/>
            <a:ext cx="3989412" cy="1615976"/>
          </a:xfrm>
          <a:prstGeom prst="roundRect">
            <a:avLst>
              <a:gd name="adj" fmla="val 1842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4748287" y="922437"/>
            <a:ext cx="3819302" cy="1474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saveToFile() {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ofstream file("students.txt");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temp = head;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while(temp != nullptr) {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file &lt;&lt; temp-&gt;roll_no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&lt;&lt; " " &lt;&lt; temp-&gt;name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&lt;&lt; " " &lt;&lt; temp-&gt;marks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&lt;&lt; " " &lt;&lt; temp-&gt;per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&lt;&lt; "\n";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temp = temp-&gt;next;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file.close();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8686" y="3794671"/>
            <a:ext cx="3266629" cy="28204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752435" y="5966553"/>
            <a:ext cx="1190129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Save To File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228092" y="5851922"/>
            <a:ext cx="1190129" cy="458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Load From File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6272"/>
            <a:ext cx="8151763" cy="2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void insert()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96119" y="791394"/>
            <a:ext cx="8608963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Adds a new student record to the end of the linked list. Includes </a:t>
            </a:r>
            <a:pPr algn="l" indent="0" marL="0">
              <a:lnSpc>
                <a:spcPct val="107000"/>
              </a:lnSpc>
              <a:buNone/>
            </a:pPr>
            <a:r>
              <a:rPr lang="en-US" sz="6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duplicate roll number detection</a:t>
            </a:r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before insertion.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496119" y="961727"/>
            <a:ext cx="8151763" cy="3765500"/>
          </a:xfrm>
          <a:prstGeom prst="roundRect">
            <a:avLst>
              <a:gd name="adj" fmla="val 964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599777" y="1048048"/>
            <a:ext cx="7944445" cy="3592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insert(){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 r; string n; float m;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cout &lt;&lt; "\n\nENTER ROLL NO. : ";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cin &gt;&gt; r;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Node* checkDuplicate = head;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while(checkDuplicate != nullptr){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if(checkDuplicate-&gt;roll_no == r){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cout &lt;&lt; "\n\nSTUDENT WITH THIS ROLL NO. ALREADY EXISTS!!";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return;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checkDuplicate = checkDuplicate-&gt;next;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cout &lt;&lt; "\n\nENTER NAME : "; cin &gt;&gt; n;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cout &lt;&lt; "\n\nENTER MARKS : "; cin &gt;&gt; m;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Node* newNode = new Node;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newNode-&gt;roll_no = r; newNode-&gt;name = n;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newNode-&gt;marks = m; newNode-&gt;per = m;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newNode-&gt;next = nullptr;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if(head == nullptr){ head = newNode; }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else{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Node* temp = head;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while(temp-&gt;next != nullptr) temp = temp-&gt;next;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temp-&gt;next = newNode;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cout &lt;&lt; "\n\nNEW NODE INSERTED SUCCESSFULLY!!!";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4904"/>
            <a:ext cx="815176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void search() and void count()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496119" y="882551"/>
            <a:ext cx="395972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search() — Find by Roll No.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96119" y="1103337"/>
            <a:ext cx="3959721" cy="3543300"/>
          </a:xfrm>
          <a:prstGeom prst="roundRect">
            <a:avLst>
              <a:gd name="adj" fmla="val 1129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610419" y="1198587"/>
            <a:ext cx="3731121" cy="335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search(){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if(head==nullptr){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cout&lt;&lt;"\n\nLINKED LIST IS EMPTY!!!";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r, found=0;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cout&lt;&lt;"\n\n ENTER ROLL NO. : ";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cin&gt;&gt;r;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temp=head;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while(temp!=nullptr){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if(r==temp-&gt;roll_no){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cout&lt;&lt;"\n\n ROLL NO.   : "&lt;&lt;temp-&gt;roll_no;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cout&lt;&lt;"\n\n NAME       : "&lt;&lt;temp-&gt;name;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cout&lt;&lt;"\n\n MARKS      : "&lt;&lt;temp-&gt;marks;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cout&lt;&lt;"\n\n PERCENTAGE : "&lt;&lt;temp-&gt;per;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found++;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temp=temp-&gt;next;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if(found==0)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cout&lt;&lt;"\n\nNO RESULTS FOUND!!!";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692923" y="882551"/>
            <a:ext cx="395972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count() — Total Node Count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92923" y="1103337"/>
            <a:ext cx="3959721" cy="2324100"/>
          </a:xfrm>
          <a:prstGeom prst="roundRect">
            <a:avLst>
              <a:gd name="adj" fmla="val 1721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4807223" y="1198587"/>
            <a:ext cx="3731121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count(){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if(head==nullptr){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cout&lt;&lt;"\n\nLINKED LIST IS EMPTY!";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cnt=0;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temp=head;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while(temp!=nullptr){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cnt++;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temp=temp-&gt;next;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cout&lt;&lt;"\n\n TOTAL NUMBER OF NODES : "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&lt;&lt;cnt&lt;&lt;endl;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692923" y="3499396"/>
            <a:ext cx="3959721" cy="417612"/>
          </a:xfrm>
          <a:prstGeom prst="roundRect">
            <a:avLst>
              <a:gd name="adj" fmla="val 9579"/>
            </a:avLst>
          </a:prstGeom>
          <a:solidFill>
            <a:srgbClr val="E1E1E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8173" y="3599111"/>
            <a:ext cx="119062" cy="952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02485" y="3580805"/>
            <a:ext cx="3554909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Both functions traverse the full linked list using a </a:t>
            </a:r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temp</a:t>
            </a:r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pointer — O(n) time complexity.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1704"/>
            <a:ext cx="8151763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void update() and void deletion()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496119" y="809625"/>
            <a:ext cx="397319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update()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96119" y="997297"/>
            <a:ext cx="3973190" cy="3533701"/>
          </a:xfrm>
          <a:prstGeom prst="roundRect">
            <a:avLst>
              <a:gd name="adj" fmla="val 1000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597098" y="1081460"/>
            <a:ext cx="3771230" cy="3365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update(){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if(head==nullptr){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cout&lt;&lt;"\n\nLINKED LIST IS EMPTY!!!";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r, found=0;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cout&lt;&lt;"\n\n ENTER ROLL NO. : "; cin&gt;&gt;r;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temp=head;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while(temp!=nullptr){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if(r==temp-&gt;roll_no){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cout&lt;&lt;"\n\nENTER NEW ROLL NO. : ";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cin&gt;&gt;temp-&gt;roll_no;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cout&lt;&lt;"\n\n ENTER NAME : ";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cin&gt;&gt;temp-&gt;name;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cout&lt;&lt;"\n\n ENTER MARKS : ";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cin&gt;&gt;temp-&gt;marks;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temp-&gt;per=temp-&gt;marks;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cout&lt;&lt;"\n\nRECORD UPDATED SUCCESSFULLY!";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found++; break;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temp=temp-&gt;next;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if(found==0)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cout&lt;&lt;"\n\nNO RESULTS FOUND!!!";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4679454" y="809625"/>
            <a:ext cx="397319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deletion()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679454" y="997297"/>
            <a:ext cx="3973190" cy="3668316"/>
          </a:xfrm>
          <a:prstGeom prst="roundRect">
            <a:avLst>
              <a:gd name="adj" fmla="val 964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4780434" y="1081460"/>
            <a:ext cx="3771230" cy="3499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deletion(){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if(head==nullptr){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cout&lt;&lt;"\n\nLINKED LIST IS EMPTY!!!";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 else {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 r, found=0;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cout&lt;&lt;"\n\n ENTER ROLL NO. : "; cin&gt;&gt;r;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if(r==head-&gt;roll_no){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Node* temp=head;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head=head-&gt;next;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found++; delete temp;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cout&lt;&lt;"\n\nRECORD DELETED SUCCESSFULLY!!";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 else {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Node* prev=head;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Node* temp=head-&gt;next;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while(temp!=nullptr){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if(r==temp-&gt;roll_no){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prev-&gt;next=temp-&gt;next;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found++; delete temp; break;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prev=temp; temp=temp-&gt;next;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if(found==0)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cout&lt;&lt;"\n\nNO RESULTS FOUND!!!";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1332"/>
            <a:ext cx="8151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void show()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96119" y="982638"/>
            <a:ext cx="860896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Traverses the entire linked list and prints every student record to the console in a formatted layout.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96119" y="1372939"/>
            <a:ext cx="4354562" cy="3239839"/>
          </a:xfrm>
          <a:prstGeom prst="roundRect">
            <a:avLst>
              <a:gd name="adj" fmla="val 1522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636984" y="1490290"/>
            <a:ext cx="4072830" cy="3005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show() {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(head == nullptr) {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"\n\nLINKED LIST IS EMPTY!!!";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Node* temp = head;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"\n\n======== ALL RECORDS ========";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(temp != nullptr) {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cout &lt;&lt; "\n\n ROLL NO.   : " &lt;&lt; temp-&gt;roll_no;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cout &lt;&lt; "\n NAME       : " &lt;&lt; temp-&gt;name;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cout &lt;&lt; "\n MARKS      : " &lt;&lt; temp-&gt;marks;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cout &lt;&lt; "\n PERCENTAGE : " &lt;&lt; temp-&gt;per &lt;&lt; "%";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cout &lt;&lt; "\n-----------------------------";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temp = temp-&gt;next;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57254" y="1263625"/>
            <a:ext cx="3679850" cy="3458468"/>
          </a:xfrm>
          <a:prstGeom prst="roundRect">
            <a:avLst>
              <a:gd name="adj" fmla="val 2444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174605" y="1360810"/>
            <a:ext cx="3445148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Output Format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174605" y="1641425"/>
            <a:ext cx="3445148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record is printed with consistent field labels and separated by a dashed divider line for readability.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174605" y="2072208"/>
            <a:ext cx="3445148" cy="793477"/>
          </a:xfrm>
          <a:prstGeom prst="rect">
            <a:avLst/>
          </a:prstGeom>
          <a:noFill/>
          <a:ln/>
        </p:spPr>
        <p:txBody>
          <a:bodyPr wrap="square" lIns="0" tIns="46960" rIns="0" bIns="0" rtlCol="0" anchor="t">
            <a:normAutofit/>
          </a:bodyPr>
          <a:lstStyle/>
          <a:p>
            <a:pPr algn="l" marL="182880" indent="-182880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Iterates with a </a:t>
            </a:r>
            <a:pPr algn="l" marL="182880" indent="-182880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highlight>
                  <a:srgbClr val="2828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temp</a:t>
            </a:r>
            <a:pPr algn="l" marL="182880" indent="-182880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pointer from </a:t>
            </a:r>
            <a:pPr algn="l" marL="182880" indent="-182880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highlight>
                  <a:srgbClr val="2828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endParaRPr lang="en-US" sz="900" dirty="0"/>
          </a:p>
          <a:p>
            <a:pPr algn="l" marL="182880" indent="-182880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Prints Roll No., Name, Marks, and Percentage</a:t>
            </a:r>
            <a:endParaRPr lang="en-US" sz="900" dirty="0"/>
          </a:p>
          <a:p>
            <a:pPr algn="l" marL="182880" indent="-182880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Dashed separator between each record</a:t>
            </a:r>
            <a:endParaRPr lang="en-US" sz="900" dirty="0"/>
          </a:p>
          <a:p>
            <a:pPr algn="l" marL="182880" indent="-182880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Handles empty list with a clear error message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 main()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608963" cy="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entry point loads persisted data, then runs a 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goto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-driven menu loop dispatching all six operations via a 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statement.</a:t>
            </a:r>
            <a:endParaRPr lang="en-US" sz="550" dirty="0"/>
          </a:p>
        </p:txBody>
      </p:sp>
      <p:sp>
        <p:nvSpPr>
          <p:cNvPr id="4" name="Shape 2"/>
          <p:cNvSpPr/>
          <p:nvPr/>
        </p:nvSpPr>
        <p:spPr>
          <a:xfrm>
            <a:off x="496119" y="851595"/>
            <a:ext cx="3989412" cy="3997523"/>
          </a:xfrm>
          <a:prstGeom prst="roundRect">
            <a:avLst>
              <a:gd name="adj" fmla="val 746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581174" y="922437"/>
            <a:ext cx="3819302" cy="3855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main(){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choice;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Linked_List obj;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obj.loadFromFile();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p: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system("cls");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cout&lt;&lt;"\n\n============================="&lt;&lt;endl;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cout&lt;&lt;"\t STUDENT MANAGEMENT SYSTEM"&lt;&lt;endl;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cout&lt;&lt;"============================="&lt;&lt;endl;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cout&lt;&lt;"\n\n1. ADD NEW STUDENT";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cout&lt;&lt;"\n\n2. SEARCH";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cout&lt;&lt;"\n\n3. COUNT TOTAL STUDENT ID";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cout&lt;&lt;"\n\n4. UPDATE RECORD";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cout&lt;&lt;"\n\n5. DELETE STUDENT RECORD";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cout&lt;&lt;"\n\n6. SHOW ALL RECORD";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cout&lt;&lt;"\n\n7. EXIT";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cout&lt;&lt;"\n\nPLEASE CHOOSE YOUR OPTION : ";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cin&gt;&gt;choice;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switch(choice){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 1: obj.insert();   break;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 2: obj.search();   break;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 3: obj.count();    break;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 4: obj.update();   break;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 5: obj.deletion(); break;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 6: obj.show();     break;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 7: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obj.saveToFile();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cout&lt;&lt;"THANK YOU FOR USING THE SYSTEM!!"&lt;&lt;endl;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exit(0);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default: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cout&lt;&lt;"\n\nPLEASE ENTER A VALID VALUE!!!"&lt;&lt;endl;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getch(); goto p;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4663232" y="851595"/>
            <a:ext cx="14175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550" dirty="0"/>
          </a:p>
        </p:txBody>
      </p:sp>
      <p:sp>
        <p:nvSpPr>
          <p:cNvPr id="7" name="Shape 5"/>
          <p:cNvSpPr/>
          <p:nvPr/>
        </p:nvSpPr>
        <p:spPr>
          <a:xfrm>
            <a:off x="4663232" y="962471"/>
            <a:ext cx="3989412" cy="9525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8" name="Text 6"/>
          <p:cNvSpPr/>
          <p:nvPr/>
        </p:nvSpPr>
        <p:spPr>
          <a:xfrm>
            <a:off x="4663232" y="1016943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Load Data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4663232" y="1163092"/>
            <a:ext cx="3989412" cy="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loadFromFile()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restores records from 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students.txt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into the linked list on startup.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4663232" y="1341462"/>
            <a:ext cx="14175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550" dirty="0"/>
          </a:p>
        </p:txBody>
      </p:sp>
      <p:sp>
        <p:nvSpPr>
          <p:cNvPr id="11" name="Shape 9"/>
          <p:cNvSpPr/>
          <p:nvPr/>
        </p:nvSpPr>
        <p:spPr>
          <a:xfrm>
            <a:off x="4663232" y="1452339"/>
            <a:ext cx="3989412" cy="9525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232" y="1506810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Display Menu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4663232" y="1652960"/>
            <a:ext cx="39894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Console menu presents 7 options. User enters a choice integer.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4663232" y="1826568"/>
            <a:ext cx="14175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4663232" y="1937445"/>
            <a:ext cx="3989412" cy="9525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232" y="1991916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Dispatch via switch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663232" y="2138065"/>
            <a:ext cx="3989412" cy="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case calls the corresponding method on the 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Linked_List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object.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4663232" y="2316435"/>
            <a:ext cx="14175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550" dirty="0"/>
          </a:p>
        </p:txBody>
      </p:sp>
      <p:sp>
        <p:nvSpPr>
          <p:cNvPr id="19" name="Shape 17"/>
          <p:cNvSpPr/>
          <p:nvPr/>
        </p:nvSpPr>
        <p:spPr>
          <a:xfrm>
            <a:off x="4663232" y="2427312"/>
            <a:ext cx="3989412" cy="9525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232" y="2481783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Loop or Exit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4663232" y="2627933"/>
            <a:ext cx="3989412" cy="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getch()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pauses, then 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goto p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restarts the menu. Case 7 saves and exits.</a:t>
            </a:r>
            <a:endParaRPr lang="en-US" sz="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657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Conclusion: Student Management System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9308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project demonstrates the practical application of C++ and fundamental data structures to create a robust student record management system.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806178"/>
            <a:ext cx="4004965" cy="1057945"/>
          </a:xfrm>
          <a:prstGeom prst="roundRect">
            <a:avLst>
              <a:gd name="adj" fmla="val 5628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2640" y="1952699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Dynamic Record Management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2640" y="2259211"/>
            <a:ext cx="3711922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Utilized a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singly linked list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efficient and flexible student data handling.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42842" y="1806178"/>
            <a:ext cx="4005039" cy="1057945"/>
          </a:xfrm>
          <a:prstGeom prst="roundRect">
            <a:avLst>
              <a:gd name="adj" fmla="val 5628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89363" y="1952699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Comprehensive CRUD Operations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89363" y="2259211"/>
            <a:ext cx="3711997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Implemented full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Create, Read, Update, Delete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(CRUD) functionality.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3005882"/>
            <a:ext cx="4004965" cy="1057945"/>
          </a:xfrm>
          <a:prstGeom prst="roundRect">
            <a:avLst>
              <a:gd name="adj" fmla="val 5628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640" y="3152403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Persistent Data Storage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2640" y="3458914"/>
            <a:ext cx="3711922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Ensured data integrity and retention via file operations (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loadFromFile()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saveToFile()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42842" y="3005882"/>
            <a:ext cx="4005039" cy="1057945"/>
          </a:xfrm>
          <a:prstGeom prst="roundRect">
            <a:avLst>
              <a:gd name="adj" fmla="val 5628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9363" y="3152403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Interactive Command-Line Interface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89363" y="3458914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Provided a user-friendly, menu-driven interface for system interaction.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119" y="4223296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system showcases how data structures and algorithms form the backbone of real-world applications, emphasizing key software engineering principles.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58888"/>
            <a:ext cx="8151763" cy="1329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THANK YOU</a:t>
            </a:r>
            <a:endParaRPr lang="en-US" sz="8350" dirty="0"/>
          </a:p>
        </p:txBody>
      </p:sp>
      <p:sp>
        <p:nvSpPr>
          <p:cNvPr id="3" name="Text 1"/>
          <p:cNvSpPr/>
          <p:nvPr/>
        </p:nvSpPr>
        <p:spPr>
          <a:xfrm>
            <a:off x="496119" y="3071440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appreciate your time and valuable feedback throughout this project.</a:t>
            </a:r>
            <a:endParaRPr lang="en-US" sz="110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MD MEHEDI HASAN NIRJON (2023-2-60-113)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2026-08-17T07:09:18Z</dcterms:created>
  <dcterms:modified xsi:type="dcterms:W3CDTF">2026-08-17T07:09:18Z</dcterms:modified>
</cp:coreProperties>
</file>